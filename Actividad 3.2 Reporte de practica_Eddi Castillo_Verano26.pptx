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3292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06972834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333891-D5E7-4C7B-BF1D-E855E53CB5A8}" type="slidenum">
              <a:rPr lang="en-US" smtClean="0"/>
              <a:t>‹Nº›</a:t>
            </a:fld>
            <a:endParaRPr lang="en-US" dirty="0"/>
          </a:p>
        </p:txBody>
      </p:sp>
    </p:spTree>
    <p:extLst>
      <p:ext uri="{BB962C8B-B14F-4D97-AF65-F5344CB8AC3E}">
        <p14:creationId xmlns:p14="http://schemas.microsoft.com/office/powerpoint/2010/main" val="95119813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5312437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0268407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8144070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5638449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21106809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0DDF080-5E8C-48AD-84E5-6C08B304C14E}" type="datetimeFigureOut">
              <a:rPr lang="en-US" smtClean="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7333891-D5E7-4C7B-BF1D-E855E53CB5A8}" type="slidenum">
              <a:rPr lang="en-US" smtClean="0"/>
              <a:t>‹Nº›</a:t>
            </a:fld>
            <a:endParaRPr lang="en-US" dirty="0"/>
          </a:p>
        </p:txBody>
      </p:sp>
    </p:spTree>
    <p:extLst>
      <p:ext uri="{BB962C8B-B14F-4D97-AF65-F5344CB8AC3E}">
        <p14:creationId xmlns:p14="http://schemas.microsoft.com/office/powerpoint/2010/main" val="229514728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9096720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74040497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8261328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2360436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5790074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86015120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7333891-D5E7-4C7B-BF1D-E855E53CB5A8}" type="slidenum">
              <a:rPr lang="en-US" smtClean="0"/>
              <a:t>‹Nº›</a:t>
            </a:fld>
            <a:endParaRPr lang="en-US" dirty="0"/>
          </a:p>
        </p:txBody>
      </p:sp>
    </p:spTree>
    <p:extLst>
      <p:ext uri="{BB962C8B-B14F-4D97-AF65-F5344CB8AC3E}">
        <p14:creationId xmlns:p14="http://schemas.microsoft.com/office/powerpoint/2010/main" val="3735180491"/>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68418462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3720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7/12/2026</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28487714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77686" y="1042417"/>
            <a:ext cx="6858000" cy="502920"/>
          </a:xfrm>
          <a:prstGeom prst="rect">
            <a:avLst/>
          </a:prstGeom>
          <a:noFill/>
          <a:ln/>
        </p:spPr>
        <p:txBody>
          <a:bodyPr wrap="square" lIns="0" tIns="0" rIns="0" bIns="0" rtlCol="0" anchor="ctr"/>
          <a:lstStyle/>
          <a:p>
            <a:pPr marL="0" indent="0" algn="ctr">
              <a:buNone/>
            </a:pPr>
            <a:r>
              <a:rPr lang="en-US" sz="1500" b="1" dirty="0">
                <a:solidFill>
                  <a:srgbClr val="222222"/>
                </a:solidFill>
                <a:latin typeface="Arial" panose="020B0604020202020204" pitchFamily="34" charset="0"/>
                <a:cs typeface="Arial" panose="020B0604020202020204" pitchFamily="34" charset="0"/>
              </a:rPr>
              <a:t>Instituto Tecnológico de Frontera Comalapa</a:t>
            </a:r>
            <a:endParaRPr lang="en-US" sz="1500" dirty="0">
              <a:latin typeface="Arial" panose="020B0604020202020204" pitchFamily="34" charset="0"/>
              <a:cs typeface="Arial" panose="020B0604020202020204" pitchFamily="34" charset="0"/>
            </a:endParaRPr>
          </a:p>
          <a:p>
            <a:pPr marL="0" indent="0" algn="ctr">
              <a:buNone/>
            </a:pPr>
            <a:r>
              <a:rPr lang="en-US" sz="1500" b="1" dirty="0">
                <a:solidFill>
                  <a:srgbClr val="222222"/>
                </a:solidFill>
                <a:latin typeface="Arial" panose="020B0604020202020204" pitchFamily="34" charset="0"/>
                <a:cs typeface="Arial" panose="020B0604020202020204" pitchFamily="34" charset="0"/>
              </a:rPr>
              <a:t>Modalidad Mixta</a:t>
            </a:r>
            <a:endParaRPr lang="en-US" sz="1500" dirty="0">
              <a:latin typeface="Arial" panose="020B0604020202020204" pitchFamily="34" charset="0"/>
              <a:cs typeface="Arial" panose="020B0604020202020204" pitchFamily="34" charset="0"/>
            </a:endParaRPr>
          </a:p>
        </p:txBody>
      </p:sp>
      <p:sp>
        <p:nvSpPr>
          <p:cNvPr id="3" name="Text 1"/>
          <p:cNvSpPr/>
          <p:nvPr/>
        </p:nvSpPr>
        <p:spPr>
          <a:xfrm>
            <a:off x="1143000" y="1097280"/>
            <a:ext cx="6858000" cy="5212080"/>
          </a:xfrm>
          <a:prstGeom prst="rect">
            <a:avLst/>
          </a:prstGeom>
          <a:noFill/>
          <a:ln/>
        </p:spPr>
        <p:txBody>
          <a:bodyPr wrap="square" lIns="381" tIns="381" rIns="381" bIns="381" rtlCol="0" anchor="ctr">
            <a:normAutofit/>
          </a:bodyPr>
          <a:lstStyle/>
          <a:p>
            <a:pPr marL="0" indent="0" algn="ctr">
              <a:buNone/>
            </a:pPr>
            <a:r>
              <a:rPr lang="en-US" sz="1300" dirty="0">
                <a:solidFill>
                  <a:srgbClr val="222222"/>
                </a:solidFill>
                <a:latin typeface="Arial" panose="020B0604020202020204" pitchFamily="34" charset="0"/>
                <a:cs typeface="Arial" panose="020B0604020202020204" pitchFamily="34" charset="0"/>
              </a:rPr>
              <a:t>Materia:</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Cómputo en la Nube</a:t>
            </a:r>
            <a:endParaRPr lang="en-US" sz="1300" dirty="0">
              <a:latin typeface="Arial" panose="020B0604020202020204" pitchFamily="34" charset="0"/>
              <a:cs typeface="Arial" panose="020B0604020202020204" pitchFamily="34" charset="0"/>
            </a:endParaRPr>
          </a:p>
          <a:p>
            <a:pPr marL="0" indent="0" algn="ctr">
              <a:buNone/>
            </a:pP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Semestre: Sexto semestre</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Especialidad:</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Ingeniería en </a:t>
            </a:r>
            <a:r>
              <a:rPr lang="en-US" sz="1300" dirty="0" err="1">
                <a:solidFill>
                  <a:srgbClr val="222222"/>
                </a:solidFill>
                <a:latin typeface="Arial" panose="020B0604020202020204" pitchFamily="34" charset="0"/>
                <a:cs typeface="Arial" panose="020B0604020202020204" pitchFamily="34" charset="0"/>
              </a:rPr>
              <a:t>Sistemas</a:t>
            </a:r>
            <a:r>
              <a:rPr lang="en-US" sz="1300" dirty="0">
                <a:solidFill>
                  <a:srgbClr val="222222"/>
                </a:solidFill>
                <a:latin typeface="Arial" panose="020B0604020202020204" pitchFamily="34" charset="0"/>
                <a:cs typeface="Arial" panose="020B0604020202020204" pitchFamily="34" charset="0"/>
              </a:rPr>
              <a:t> </a:t>
            </a:r>
            <a:r>
              <a:rPr lang="en-US" sz="1300" dirty="0" err="1">
                <a:solidFill>
                  <a:srgbClr val="222222"/>
                </a:solidFill>
                <a:latin typeface="Arial" panose="020B0604020202020204" pitchFamily="34" charset="0"/>
                <a:cs typeface="Arial" panose="020B0604020202020204" pitchFamily="34" charset="0"/>
              </a:rPr>
              <a:t>Computacionales</a:t>
            </a:r>
            <a:r>
              <a:rPr lang="en-US" sz="1300" dirty="0">
                <a:solidFill>
                  <a:srgbClr val="222222"/>
                </a:solidFill>
                <a:latin typeface="Arial" panose="020B0604020202020204" pitchFamily="34" charset="0"/>
                <a:cs typeface="Arial" panose="020B0604020202020204" pitchFamily="34" charset="0"/>
              </a:rPr>
              <a:t>,</a:t>
            </a:r>
          </a:p>
          <a:p>
            <a:pPr marL="0" indent="0" algn="ctr">
              <a:buNone/>
            </a:pPr>
            <a:endParaRPr lang="en-US" sz="1300" dirty="0">
              <a:latin typeface="Arial" panose="020B0604020202020204" pitchFamily="34" charset="0"/>
              <a:cs typeface="Arial" panose="020B0604020202020204" pitchFamily="34" charset="0"/>
            </a:endParaRPr>
          </a:p>
          <a:p>
            <a:pPr algn="ctr"/>
            <a:r>
              <a:rPr lang="es-MX" sz="1400" dirty="0">
                <a:latin typeface="Arial" panose="020B0604020202020204" pitchFamily="34" charset="0"/>
                <a:cs typeface="Arial" panose="020B0604020202020204" pitchFamily="34" charset="0"/>
              </a:rPr>
              <a:t>Nombre</a:t>
            </a:r>
            <a:r>
              <a:rPr lang="es-MX" sz="1400" spc="-35" dirty="0">
                <a:latin typeface="Arial" panose="020B0604020202020204" pitchFamily="34" charset="0"/>
                <a:cs typeface="Arial" panose="020B0604020202020204" pitchFamily="34" charset="0"/>
              </a:rPr>
              <a:t> </a:t>
            </a:r>
            <a:r>
              <a:rPr lang="es-MX" sz="1400" dirty="0">
                <a:latin typeface="Arial" panose="020B0604020202020204" pitchFamily="34" charset="0"/>
                <a:cs typeface="Arial" panose="020B0604020202020204" pitchFamily="34" charset="0"/>
              </a:rPr>
              <a:t>del</a:t>
            </a:r>
            <a:r>
              <a:rPr lang="es-MX" sz="1400" spc="-35" dirty="0">
                <a:latin typeface="Arial" panose="020B0604020202020204" pitchFamily="34" charset="0"/>
                <a:cs typeface="Arial" panose="020B0604020202020204" pitchFamily="34" charset="0"/>
              </a:rPr>
              <a:t> </a:t>
            </a:r>
            <a:r>
              <a:rPr lang="es-MX" sz="1400" spc="-10" dirty="0">
                <a:latin typeface="Arial" panose="020B0604020202020204" pitchFamily="34" charset="0"/>
                <a:cs typeface="Arial" panose="020B0604020202020204" pitchFamily="34" charset="0"/>
              </a:rPr>
              <a:t>docente:</a:t>
            </a:r>
            <a:endParaRPr lang="es-MX" sz="1400" dirty="0">
              <a:latin typeface="Arial" panose="020B0604020202020204" pitchFamily="34" charset="0"/>
              <a:cs typeface="Arial" panose="020B0604020202020204" pitchFamily="34" charset="0"/>
            </a:endParaRPr>
          </a:p>
          <a:p>
            <a:pPr algn="ctr"/>
            <a:r>
              <a:rPr lang="es-ES" sz="1400" dirty="0">
                <a:effectLst/>
                <a:latin typeface="Arial" panose="020B0604020202020204" pitchFamily="34" charset="0"/>
                <a:ea typeface="Arial" panose="020B0604020202020204" pitchFamily="34" charset="0"/>
              </a:rPr>
              <a:t>Ing. Francisco Javier Mingo Velázquez</a:t>
            </a:r>
            <a:endParaRPr lang="en-US" sz="1300" dirty="0">
              <a:latin typeface="Arial" panose="020B0604020202020204" pitchFamily="34" charset="0"/>
              <a:cs typeface="Arial" panose="020B0604020202020204" pitchFamily="34" charset="0"/>
            </a:endParaRPr>
          </a:p>
          <a:p>
            <a:pPr marL="0" indent="0" algn="ctr">
              <a:buNone/>
            </a:pP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Número de control:</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231260005</a:t>
            </a:r>
            <a:endParaRPr lang="en-US" sz="1300" dirty="0">
              <a:latin typeface="Arial" panose="020B0604020202020204" pitchFamily="34" charset="0"/>
              <a:cs typeface="Arial" panose="020B0604020202020204" pitchFamily="34" charset="0"/>
            </a:endParaRPr>
          </a:p>
          <a:p>
            <a:pPr marL="0" indent="0" algn="ctr">
              <a:buNone/>
            </a:pP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Nombre del alumno:</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Eddi Uriel Castillo Sánchez</a:t>
            </a:r>
            <a:endParaRPr lang="en-US" sz="1300" dirty="0">
              <a:latin typeface="Arial" panose="020B0604020202020204" pitchFamily="34" charset="0"/>
              <a:cs typeface="Arial" panose="020B0604020202020204" pitchFamily="34" charset="0"/>
            </a:endParaRPr>
          </a:p>
          <a:p>
            <a:pPr marL="0" indent="0" algn="ctr">
              <a:buNone/>
            </a:pP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Nombre del trabajo:</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Reporte de práctica: Configuración de Nginx como Reverse Proxy</a:t>
            </a:r>
            <a:endParaRPr lang="en-US" sz="1300" dirty="0">
              <a:latin typeface="Arial" panose="020B0604020202020204" pitchFamily="34" charset="0"/>
              <a:cs typeface="Arial" panose="020B0604020202020204" pitchFamily="34" charset="0"/>
            </a:endParaRPr>
          </a:p>
          <a:p>
            <a:pPr marL="0" indent="0" algn="ctr">
              <a:buNone/>
            </a:pP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Fecha de entrega:</a:t>
            </a:r>
            <a:endParaRPr lang="en-US" sz="1300" dirty="0">
              <a:latin typeface="Arial" panose="020B0604020202020204" pitchFamily="34" charset="0"/>
              <a:cs typeface="Arial" panose="020B0604020202020204" pitchFamily="34" charset="0"/>
            </a:endParaRPr>
          </a:p>
          <a:p>
            <a:pPr marL="0" indent="0" algn="ctr">
              <a:buNone/>
            </a:pPr>
            <a:r>
              <a:rPr lang="en-US" sz="1300" dirty="0">
                <a:solidFill>
                  <a:srgbClr val="222222"/>
                </a:solidFill>
                <a:latin typeface="Arial" panose="020B0604020202020204" pitchFamily="34" charset="0"/>
                <a:cs typeface="Arial" panose="020B0604020202020204" pitchFamily="34" charset="0"/>
              </a:rPr>
              <a:t>Frontera Comalapa, Chiapas,07 de julio de 2026</a:t>
            </a:r>
            <a:endParaRPr lang="en-US" sz="1300" dirty="0">
              <a:latin typeface="Arial" panose="020B0604020202020204" pitchFamily="34" charset="0"/>
              <a:cs typeface="Arial" panose="020B0604020202020204" pitchFamily="34" charset="0"/>
            </a:endParaRPr>
          </a:p>
        </p:txBody>
      </p:sp>
      <p:sp>
        <p:nvSpPr>
          <p:cNvPr id="4" name="Shape 2"/>
          <p:cNvSpPr/>
          <p:nvPr/>
        </p:nvSpPr>
        <p:spPr>
          <a:xfrm>
            <a:off x="365760" y="6510528"/>
            <a:ext cx="8412480" cy="0"/>
          </a:xfrm>
          <a:prstGeom prst="line">
            <a:avLst/>
          </a:prstGeom>
          <a:noFill/>
          <a:ln w="12700">
            <a:solidFill>
              <a:srgbClr val="DDDDDD"/>
            </a:solidFill>
            <a:prstDash val="solid"/>
          </a:ln>
        </p:spPr>
      </p:sp>
      <p:sp>
        <p:nvSpPr>
          <p:cNvPr id="5" name="Text 3"/>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a:t>
            </a:r>
            <a:endParaRPr lang="en-US" sz="800" dirty="0"/>
          </a:p>
        </p:txBody>
      </p:sp>
      <p:pic>
        <p:nvPicPr>
          <p:cNvPr id="6" name="object 3">
            <a:extLst>
              <a:ext uri="{FF2B5EF4-FFF2-40B4-BE49-F238E27FC236}">
                <a16:creationId xmlns:a16="http://schemas.microsoft.com/office/drawing/2014/main" id="{EE7B6A96-4A6C-4A89-FB5D-FF60212C2AC9}"/>
              </a:ext>
            </a:extLst>
          </p:cNvPr>
          <p:cNvPicPr/>
          <p:nvPr/>
        </p:nvPicPr>
        <p:blipFill>
          <a:blip r:embed="rId3" cstate="print"/>
          <a:stretch>
            <a:fillRect/>
          </a:stretch>
        </p:blipFill>
        <p:spPr>
          <a:xfrm>
            <a:off x="1417076" y="189879"/>
            <a:ext cx="5561326" cy="63308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02920"/>
            <a:ext cx="7772400" cy="411480"/>
          </a:xfrm>
          <a:prstGeom prst="rect">
            <a:avLst/>
          </a:prstGeom>
          <a:noFill/>
          <a:ln/>
        </p:spPr>
        <p:txBody>
          <a:bodyPr wrap="square" lIns="0" tIns="0" rIns="0" bIns="0" rtlCol="0" anchor="ctr"/>
          <a:lstStyle/>
          <a:p>
            <a:pPr marL="0" indent="0" algn="ctr">
              <a:buNone/>
            </a:pPr>
            <a:r>
              <a:rPr lang="en-US" sz="2000" b="1" dirty="0">
                <a:solidFill>
                  <a:srgbClr val="222222"/>
                </a:solidFill>
              </a:rPr>
              <a:t>INTRODUCCIÓN</a:t>
            </a:r>
            <a:endParaRPr lang="en-US" sz="2000" dirty="0"/>
          </a:p>
        </p:txBody>
      </p:sp>
      <p:sp>
        <p:nvSpPr>
          <p:cNvPr id="3" name="Text 1"/>
          <p:cNvSpPr/>
          <p:nvPr/>
        </p:nvSpPr>
        <p:spPr>
          <a:xfrm>
            <a:off x="777240" y="1234440"/>
            <a:ext cx="7589520" cy="4480560"/>
          </a:xfrm>
          <a:prstGeom prst="rect">
            <a:avLst/>
          </a:prstGeom>
          <a:noFill/>
          <a:ln/>
        </p:spPr>
        <p:txBody>
          <a:bodyPr wrap="square" lIns="635" tIns="635" rIns="635" bIns="635" rtlCol="0" anchor="ctr">
            <a:normAutofit/>
          </a:bodyPr>
          <a:lstStyle/>
          <a:p>
            <a:pPr marL="0" indent="0">
              <a:buNone/>
            </a:pPr>
            <a:r>
              <a:rPr lang="en-US" sz="1400" dirty="0">
                <a:solidFill>
                  <a:srgbClr val="222222"/>
                </a:solidFill>
              </a:rPr>
              <a:t>En esta práctica se trabajó la configuración de Nginx como reverse proxy dentro de un VPS de Google Cloud. Antes de iniciar, ya se tenían dos aplicaciones Spring Boot funcionando como servicios de systemd, una para el sistema de Departamento de Ingenierías y otra para Residencias. El detalle era que cada aplicación se abría por medio de la IP y su puerto, por ejemplo 8081 o 8082, lo cual no era tan cómodo para el usuario. Por eso se instaló y configuró Nginx para recibir las peticiones por el puerto 80 y mandarlas internamente a cada aplicación. También se agregó un dominio gratuito de Duck DNS para entrar con una dirección más fácil de recordar. Durante el proceso se realizaron pruebas, correcciones y verificaciones para comprobar que las rutas públicas quedaran funcionando correctamente.</a:t>
            </a:r>
            <a:endParaRPr lang="en-US" sz="1400" dirty="0"/>
          </a:p>
        </p:txBody>
      </p:sp>
      <p:sp>
        <p:nvSpPr>
          <p:cNvPr id="4" name="Shape 2"/>
          <p:cNvSpPr/>
          <p:nvPr/>
        </p:nvSpPr>
        <p:spPr>
          <a:xfrm>
            <a:off x="365760" y="6510528"/>
            <a:ext cx="8412480" cy="0"/>
          </a:xfrm>
          <a:prstGeom prst="line">
            <a:avLst/>
          </a:prstGeom>
          <a:noFill/>
          <a:ln w="12700">
            <a:solidFill>
              <a:srgbClr val="DDDDDD"/>
            </a:solidFill>
            <a:prstDash val="solid"/>
          </a:ln>
        </p:spPr>
      </p:sp>
      <p:sp>
        <p:nvSpPr>
          <p:cNvPr id="5" name="Text 3"/>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02920"/>
            <a:ext cx="7772400" cy="411480"/>
          </a:xfrm>
          <a:prstGeom prst="rect">
            <a:avLst/>
          </a:prstGeom>
          <a:noFill/>
          <a:ln/>
        </p:spPr>
        <p:txBody>
          <a:bodyPr wrap="square" lIns="0" tIns="0" rIns="0" bIns="0" rtlCol="0" anchor="ctr"/>
          <a:lstStyle/>
          <a:p>
            <a:pPr marL="0" indent="0" algn="ctr">
              <a:buNone/>
            </a:pPr>
            <a:r>
              <a:rPr lang="en-US" sz="2000" b="1" dirty="0">
                <a:solidFill>
                  <a:srgbClr val="222222"/>
                </a:solidFill>
              </a:rPr>
              <a:t>JUSTIFICACIÓN</a:t>
            </a:r>
            <a:endParaRPr lang="en-US" sz="2000" dirty="0"/>
          </a:p>
        </p:txBody>
      </p:sp>
      <p:sp>
        <p:nvSpPr>
          <p:cNvPr id="3" name="Text 1"/>
          <p:cNvSpPr/>
          <p:nvPr/>
        </p:nvSpPr>
        <p:spPr>
          <a:xfrm>
            <a:off x="777240" y="1234440"/>
            <a:ext cx="7589520" cy="4297680"/>
          </a:xfrm>
          <a:prstGeom prst="rect">
            <a:avLst/>
          </a:prstGeom>
          <a:noFill/>
          <a:ln/>
        </p:spPr>
        <p:txBody>
          <a:bodyPr wrap="square" lIns="635" tIns="635" rIns="635" bIns="635" rtlCol="0" anchor="ctr">
            <a:normAutofit/>
          </a:bodyPr>
          <a:lstStyle/>
          <a:p>
            <a:pPr marL="0" indent="0">
              <a:buNone/>
            </a:pPr>
            <a:r>
              <a:rPr lang="en-US" sz="1400" dirty="0">
                <a:solidFill>
                  <a:srgbClr val="222222"/>
                </a:solidFill>
              </a:rPr>
              <a:t>Esta configuración es importante porque ayuda a publicar varias aplicaciones desde un mismo servidor sin tener que mostrar directamente los puertos internos. Con Nginx se puede trabajar de forma más ordenada, ya que el servidor recibe las solicitudes en una sola entrada y luego las envía a la aplicación correcta. También permite que el acceso sea más presentable usando un dominio, en lugar de depender solo de una dirección IP. En la práctica se reforzó el uso de comandos en Linux, la edición de archivos de configuración, la revisión de errores y la prueba de servicios web. Además, este tipo de configuración sirve como base para agregar HTTPS más adelante y dejar el sistema listo para un entorno más formal.</a:t>
            </a:r>
            <a:endParaRPr lang="en-US" sz="1400" dirty="0"/>
          </a:p>
        </p:txBody>
      </p:sp>
      <p:sp>
        <p:nvSpPr>
          <p:cNvPr id="4" name="Shape 2"/>
          <p:cNvSpPr/>
          <p:nvPr/>
        </p:nvSpPr>
        <p:spPr>
          <a:xfrm>
            <a:off x="365760" y="6510528"/>
            <a:ext cx="8412480" cy="0"/>
          </a:xfrm>
          <a:prstGeom prst="line">
            <a:avLst/>
          </a:prstGeom>
          <a:noFill/>
          <a:ln w="12700">
            <a:solidFill>
              <a:srgbClr val="DDDDDD"/>
            </a:solidFill>
            <a:prstDash val="solid"/>
          </a:ln>
        </p:spPr>
      </p:sp>
      <p:sp>
        <p:nvSpPr>
          <p:cNvPr id="5" name="Text 3"/>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r>
              <a:rPr lang="en-US" sz="2000" b="1" dirty="0">
                <a:solidFill>
                  <a:srgbClr val="183E5A"/>
                </a:solidFill>
              </a:rPr>
              <a:t>03</a:t>
            </a: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1: Revisión del contexto previo</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Primero se tomó en cuenta que el VPS ya tenía dos aplicaciones Spring Boot levantadas. La aplicación de Departamento de Ingenierías trabajaba en el puerto interno 8081 y la aplicación de Residencias en el puerto 8082. En este punto todavía se dependía de la IP y del puerto para poder entrar a cada sistema.</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departamento-ingenierias  →  localhost:8081</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residencias                 →  localhost:8082</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de aqui se comuenxa.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2: Conexión al VPS</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Después se realizó la conexión al servidor por medio de SSH. Esto permitió trabajar directamente desde la terminal del VPS y hacer las configuraciones necesarias. Desde ahí se pudieron ejecutar los comandos para instalar servicios, revisar archivos y hacer pruebas locales.</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gcloud compute ssh mi-vps --zone=us-central1-a</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0 23-18-42.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3: Instalación de Nginx</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Ya dentro del servidor, se instaló Nginx desde los repositorios de Ubuntu. Primero se actualizó la lista de paquetes y luego se instaló el servicio. Al finalizar, se revisó que Nginx estuviera activo para continuar con la configuración.</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sudo apt update</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sudo apt install -y nginx</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sudo systemctl status nginx</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8-58.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4: Creación del archivo de configuración</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En lugar de modificar el archivo default, se creó un archivo nuevo llamado mis-apps dentro de sites-available. Esto ayudó a tener separada la configuración de las aplicaciones y evitar cambios directos sobre el archivo que viene por defecto en Nginx.</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sudo nano /etc/nginx/sites-available/mis-apps</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5-22.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5: Configuración de rutas para cada aplicación</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Dentro del archivo se creó un bloque server escuchando en el puerto 80. También se agregaron dos bloques location: uno para /departamento/ y otro para /residencias/. Cada ruta se configuró con proxy_pass para enviar la petición al puerto interno que corresponde.</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location /departamento/ { proxy_pass http://localhost:8081/; }</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location /residencias/ { proxy_pass http://localhost:8082/; }</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5-22.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6: Activación de la configuración</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Después de guardar el archivo, se enlazó hacia sites-enabled para que Nginx pudiera tomarlo en cuenta. También se quitó la configuración default para evitar que existieran conflictos al momento de atender las peticiones por el puerto 80.</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sudo ln -s /etc/nginx/sites-available/mis-apps /etc/nginx/sites-enabled/</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sudo rm /etc/nginx/sites-enabled/default</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8-58.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7: Verificación y reinicio del servicio</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Antes de aplicar los cambios, se revisó la sintaxis con nginx -t. Esto fue necesario para confirmar que el archivo no tuviera errores. Al salir correcto, se reinició Nginx para que tomara la nueva configuración.</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sudo nginx -t</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sudo systemctl restart nginx</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8-58.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r>
              <a:rPr lang="en-US" sz="2000" b="1" dirty="0">
                <a:solidFill>
                  <a:srgbClr val="183E5A"/>
                </a:solidFill>
              </a:rPr>
              <a:t>03</a:t>
            </a: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8: Incidencia encontrada</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Al probar la ruta del Departamento de Ingenierías, la aplicación redirigía al login, pero la redirección no conservaba correctamente el prefijo público. Por ese motivo aparecía un error 404 o se perdía la ruta esperada.</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Prueba en navegador: /departamento/</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Resultado inicial: error 404 o redirección incorrecta</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2-05.png"/>
          <p:cNvPicPr>
            <a:picLocks noChangeAspect="1"/>
          </p:cNvPicPr>
          <p:nvPr/>
        </p:nvPicPr>
        <p:blipFill>
          <a:blip r:embed="rId3"/>
          <a:srcRect t="4155" b="4155"/>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9: Corrección con proxy_redirect</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Para corregir el problema, se agregaron reglas proxy_redirect dentro del bloque de /departamento/. Con eso, las redirecciones generadas por la aplicación se ajustaron para que apuntaran a la ruta pública correcta del dominio.</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proxy_redirect http://localhost:8081/ /departamento/;</a:t>
            </a:r>
            <a:endParaRPr lang="en-US" sz="1150" dirty="0"/>
          </a:p>
          <a:p>
            <a:pPr marL="0" indent="0">
              <a:buNone/>
            </a:pPr>
            <a:r>
              <a:rPr lang="en-US" sz="1150" dirty="0">
                <a:solidFill>
                  <a:srgbClr val="222222"/>
                </a:solidFill>
                <a:latin typeface="Courier New" pitchFamily="34" charset="0"/>
                <a:ea typeface="Courier New" pitchFamily="34" charset="-122"/>
                <a:cs typeface="Courier New" pitchFamily="34" charset="-120"/>
              </a:rPr>
              <a:t>proxy_redirect http://itfcomalapa.duckdns.org/ /departamento/;</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8-58.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10: Prueba desde el servidor</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La corrección se comprobó con curl usando el encabezado Host del dominio. La respuesta esperada fue una redirección 302 hacia /departamento/login. Esto indicó que Nginx ya estaba reescribiendo correctamente la ruta pública.</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curl -I -H "Host: itfcomalapa.duckdns.org" http://localhost/departamento/</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8-58.png"/>
          <p:cNvPicPr>
            <a:picLocks noChangeAspect="1"/>
          </p:cNvPicPr>
          <p:nvPr/>
        </p:nvPicPr>
        <p:blipFill>
          <a:blip r:embed="rId3"/>
          <a:srcRect t="4081" b="4081"/>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11: Registro del dominio en Duck DNS</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Para no usar solamente la IP pública, se configuró un dominio gratuito en Duck DNS. Se creó el subdominio itfcomalapa y se apuntó hacia la IP del VPS. Así el acceso quedó más claro y fácil de escribir en el navegador.</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itfcomalapa.duckdns.org  →  34.29.170.18</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08-28.png"/>
          <p:cNvPicPr>
            <a:picLocks noChangeAspect="1"/>
          </p:cNvPicPr>
          <p:nvPr/>
        </p:nvPicPr>
        <p:blipFill>
          <a:blip r:embed="rId3"/>
          <a:srcRect t="4155" b="4155"/>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12: Actualización de la IP del dominio</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Después se verificó que Duck DNS actualizara la IP del subdominio. En la captura se observa el mensaje de éxito, lo cual confirma que el dominio quedó apuntando a la IP pública usada por el servidor.</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success: ip address for itfcomalapa.duckdns.org updated to 34.29.170.18</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09-21.png"/>
          <p:cNvPicPr>
            <a:picLocks noChangeAspect="1"/>
          </p:cNvPicPr>
          <p:nvPr/>
        </p:nvPicPr>
        <p:blipFill>
          <a:blip r:embed="rId3"/>
          <a:srcRect t="4155" b="4155"/>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a:solidFill>
                  <a:srgbClr val="222222"/>
                </a:solidFill>
              </a:rPr>
              <a:t>Paso 13: Prueba final de la aplicación</a:t>
            </a:r>
            <a:endParaRPr lang="en-US" sz="1700" dirty="0"/>
          </a:p>
        </p:txBody>
      </p:sp>
      <p:sp>
        <p:nvSpPr>
          <p:cNvPr id="4" name="Text 2"/>
          <p:cNvSpPr/>
          <p:nvPr/>
        </p:nvSpPr>
        <p:spPr>
          <a:xfrm>
            <a:off x="960120" y="96012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Finalmente se abrió la ruta pública del Departamento de Ingenierías desde el navegador. La pantalla de inicio de sesión cargó correctamente mediante el dominio y la ruta /departamento/login, mostrando que el reverse proxy ya funcionaba.</a:t>
            </a:r>
            <a:endParaRPr lang="en-US" sz="1320" dirty="0"/>
          </a:p>
        </p:txBody>
      </p:sp>
      <p:sp>
        <p:nvSpPr>
          <p:cNvPr id="5" name="Text 3"/>
          <p:cNvSpPr/>
          <p:nvPr/>
        </p:nvSpPr>
        <p:spPr>
          <a:xfrm>
            <a:off x="960120" y="1938528"/>
            <a:ext cx="7223760" cy="566928"/>
          </a:xfrm>
          <a:prstGeom prst="rect">
            <a:avLst/>
          </a:prstGeom>
          <a:solidFill>
            <a:srgbClr val="F3F3F3"/>
          </a:solidFill>
          <a:ln w="12700">
            <a:solidFill>
              <a:srgbClr val="E0E0E0"/>
            </a:solidFill>
          </a:ln>
        </p:spPr>
        <p:txBody>
          <a:bodyPr wrap="square" lIns="1016" tIns="1016" rIns="1016" bIns="1016" rtlCol="0" anchor="ctr">
            <a:normAutofit/>
          </a:bodyPr>
          <a:lstStyle/>
          <a:p>
            <a:pPr marL="0" indent="0">
              <a:buNone/>
            </a:pPr>
            <a:r>
              <a:rPr lang="en-US" sz="1150" dirty="0">
                <a:solidFill>
                  <a:srgbClr val="222222"/>
                </a:solidFill>
                <a:latin typeface="Courier New" pitchFamily="34" charset="0"/>
                <a:ea typeface="Courier New" pitchFamily="34" charset="-122"/>
                <a:cs typeface="Courier New" pitchFamily="34" charset="-120"/>
              </a:rPr>
              <a:t>http://itfcomalapa.duckdns.org/departamento/</a:t>
            </a:r>
            <a:endParaRPr lang="en-US" sz="1150" dirty="0"/>
          </a:p>
        </p:txBody>
      </p:sp>
      <p:sp>
        <p:nvSpPr>
          <p:cNvPr id="6" name="Shape 4"/>
          <p:cNvSpPr/>
          <p:nvPr/>
        </p:nvSpPr>
        <p:spPr>
          <a:xfrm>
            <a:off x="804672" y="2715768"/>
            <a:ext cx="7543800" cy="3447288"/>
          </a:xfrm>
          <a:prstGeom prst="rect">
            <a:avLst/>
          </a:prstGeom>
          <a:solidFill>
            <a:srgbClr val="FFFFFF"/>
          </a:solidFill>
          <a:ln w="12700">
            <a:solidFill>
              <a:srgbClr val="DDDDDD"/>
            </a:solidFill>
            <a:prstDash val="solid"/>
          </a:ln>
        </p:spPr>
      </p:sp>
      <p:pic>
        <p:nvPicPr>
          <p:cNvPr id="7" name="Image 0" descr="/mnt/data/imgen_all/imgen/Captura desde 2026-07-11 01-19-56.png"/>
          <p:cNvPicPr>
            <a:picLocks noChangeAspect="1"/>
          </p:cNvPicPr>
          <p:nvPr/>
        </p:nvPicPr>
        <p:blipFill>
          <a:blip r:embed="rId3"/>
          <a:srcRect t="4155" b="4155"/>
          <a:stretch/>
        </p:blipFill>
        <p:spPr>
          <a:xfrm>
            <a:off x="841248" y="2770632"/>
            <a:ext cx="7470648" cy="3337560"/>
          </a:xfrm>
          <a:prstGeom prst="rect">
            <a:avLst/>
          </a:prstGeom>
        </p:spPr>
      </p:pic>
      <p:sp>
        <p:nvSpPr>
          <p:cNvPr id="8" name="Shape 5"/>
          <p:cNvSpPr/>
          <p:nvPr/>
        </p:nvSpPr>
        <p:spPr>
          <a:xfrm>
            <a:off x="365760" y="6510528"/>
            <a:ext cx="8412480" cy="0"/>
          </a:xfrm>
          <a:prstGeom prst="line">
            <a:avLst/>
          </a:prstGeom>
          <a:noFill/>
          <a:ln w="12700">
            <a:solidFill>
              <a:srgbClr val="DDDDDD"/>
            </a:solidFill>
            <a:prstDash val="solid"/>
          </a:ln>
        </p:spPr>
      </p:sp>
      <p:sp>
        <p:nvSpPr>
          <p:cNvPr id="9" name="Text 6"/>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14" name="Text 12"/>
          <p:cNvSpPr/>
          <p:nvPr/>
        </p:nvSpPr>
        <p:spPr>
          <a:xfrm>
            <a:off x="951256" y="692612"/>
            <a:ext cx="6186662" cy="804764"/>
          </a:xfrm>
          <a:prstGeom prst="rect">
            <a:avLst/>
          </a:prstGeom>
          <a:solidFill>
            <a:schemeClr val="bg1"/>
          </a:solidFill>
          <a:ln>
            <a:solidFill>
              <a:schemeClr val="bg1"/>
            </a:solidFill>
          </a:ln>
        </p:spPr>
        <p:txBody>
          <a:bodyPr wrap="square" lIns="1016" tIns="1016" rIns="1016" bIns="1016" rtlCol="0" anchor="ctr">
            <a:normAutofit/>
          </a:bodyPr>
          <a:lstStyle/>
          <a:p>
            <a:pPr marL="0" indent="0">
              <a:buNone/>
            </a:pPr>
            <a:r>
              <a:rPr lang="en-US" sz="1300" dirty="0">
                <a:solidFill>
                  <a:srgbClr val="222222"/>
                </a:solidFill>
              </a:rPr>
              <a:t>Anexo link con las </a:t>
            </a:r>
            <a:r>
              <a:rPr lang="en-US" sz="1300" dirty="0" err="1">
                <a:solidFill>
                  <a:srgbClr val="222222"/>
                </a:solidFill>
              </a:rPr>
              <a:t>actividades</a:t>
            </a:r>
            <a:r>
              <a:rPr lang="en-US" sz="1300" dirty="0">
                <a:solidFill>
                  <a:srgbClr val="222222"/>
                </a:solidFill>
              </a:rPr>
              <a:t> </a:t>
            </a:r>
            <a:r>
              <a:rPr lang="en-US" sz="1300" dirty="0" err="1">
                <a:solidFill>
                  <a:srgbClr val="222222"/>
                </a:solidFill>
              </a:rPr>
              <a:t>correspondientes</a:t>
            </a:r>
            <a:r>
              <a:rPr lang="en-US" sz="1300" dirty="0">
                <a:solidFill>
                  <a:srgbClr val="222222"/>
                </a:solidFill>
              </a:rPr>
              <a:t>:</a:t>
            </a:r>
            <a:endParaRPr lang="en-US" sz="1300" dirty="0"/>
          </a:p>
        </p:txBody>
      </p:sp>
      <p:sp>
        <p:nvSpPr>
          <p:cNvPr id="2" name="Text 0"/>
          <p:cNvSpPr/>
          <p:nvPr/>
        </p:nvSpPr>
        <p:spPr>
          <a:xfrm>
            <a:off x="411480" y="438912"/>
            <a:ext cx="594360" cy="347472"/>
          </a:xfrm>
          <a:prstGeom prst="rect">
            <a:avLst/>
          </a:prstGeom>
          <a:noFill/>
          <a:ln/>
        </p:spPr>
        <p:txBody>
          <a:bodyPr wrap="square" lIns="0" tIns="0" rIns="0" bIns="0" rtlCol="0" anchor="ctr"/>
          <a:lstStyle/>
          <a:p>
            <a:pPr marL="0" indent="0">
              <a:buNone/>
            </a:pPr>
            <a:endParaRPr lang="en-US" sz="2000" dirty="0"/>
          </a:p>
        </p:txBody>
      </p:sp>
      <p:sp>
        <p:nvSpPr>
          <p:cNvPr id="3" name="Text 1"/>
          <p:cNvSpPr/>
          <p:nvPr/>
        </p:nvSpPr>
        <p:spPr>
          <a:xfrm>
            <a:off x="1234440" y="438912"/>
            <a:ext cx="7178040" cy="384048"/>
          </a:xfrm>
          <a:prstGeom prst="rect">
            <a:avLst/>
          </a:prstGeom>
          <a:noFill/>
          <a:ln/>
        </p:spPr>
        <p:txBody>
          <a:bodyPr wrap="square" lIns="0" tIns="0" rIns="0" bIns="0" rtlCol="0" anchor="ctr">
            <a:normAutofit/>
          </a:bodyPr>
          <a:lstStyle/>
          <a:p>
            <a:pPr marL="0" indent="0">
              <a:buNone/>
            </a:pPr>
            <a:r>
              <a:rPr lang="en-US" sz="1700" b="1" dirty="0" err="1">
                <a:solidFill>
                  <a:srgbClr val="222222"/>
                </a:solidFill>
              </a:rPr>
              <a:t>Codigo</a:t>
            </a:r>
            <a:r>
              <a:rPr lang="en-US" sz="1700" b="1" dirty="0">
                <a:solidFill>
                  <a:srgbClr val="222222"/>
                </a:solidFill>
              </a:rPr>
              <a:t> de git hub</a:t>
            </a:r>
            <a:endParaRPr lang="en-US" sz="1700" dirty="0"/>
          </a:p>
        </p:txBody>
      </p:sp>
      <p:sp>
        <p:nvSpPr>
          <p:cNvPr id="4" name="Text 2"/>
          <p:cNvSpPr/>
          <p:nvPr/>
        </p:nvSpPr>
        <p:spPr>
          <a:xfrm>
            <a:off x="960120" y="1005840"/>
            <a:ext cx="7178040" cy="914400"/>
          </a:xfrm>
          <a:prstGeom prst="rect">
            <a:avLst/>
          </a:prstGeom>
          <a:noFill/>
          <a:ln/>
        </p:spPr>
        <p:txBody>
          <a:bodyPr wrap="square" lIns="381" tIns="381" rIns="381" bIns="381" rtlCol="0" anchor="ctr">
            <a:normAutofit/>
          </a:bodyPr>
          <a:lstStyle/>
          <a:p>
            <a:pPr marL="0" indent="0">
              <a:buNone/>
            </a:pPr>
            <a:r>
              <a:rPr lang="en-US" sz="1320" dirty="0">
                <a:solidFill>
                  <a:srgbClr val="222222"/>
                </a:solidFill>
              </a:rPr>
              <a:t>https://github.com/eddiCastS/Topicos-de-programacion-web.git</a:t>
            </a:r>
            <a:endParaRPr lang="en-US" sz="1320" dirty="0"/>
          </a:p>
        </p:txBody>
      </p:sp>
      <p:sp>
        <p:nvSpPr>
          <p:cNvPr id="6" name="Text 4"/>
          <p:cNvSpPr/>
          <p:nvPr/>
        </p:nvSpPr>
        <p:spPr>
          <a:xfrm>
            <a:off x="987552" y="2487168"/>
            <a:ext cx="2560320" cy="182880"/>
          </a:xfrm>
          <a:prstGeom prst="rect">
            <a:avLst/>
          </a:prstGeom>
          <a:noFill/>
          <a:ln/>
        </p:spPr>
        <p:txBody>
          <a:bodyPr wrap="square" lIns="0" tIns="0" rIns="0" bIns="0" rtlCol="0" anchor="ctr"/>
          <a:lstStyle/>
          <a:p>
            <a:pPr marL="0" indent="0">
              <a:buNone/>
            </a:pPr>
            <a:r>
              <a:rPr lang="en-US" sz="1200" b="1" dirty="0">
                <a:solidFill>
                  <a:srgbClr val="FFFFFF"/>
                </a:solidFill>
              </a:rPr>
              <a:t>Aplicación</a:t>
            </a:r>
            <a:endParaRPr lang="en-US" sz="1200" dirty="0"/>
          </a:p>
        </p:txBody>
      </p:sp>
      <p:sp>
        <p:nvSpPr>
          <p:cNvPr id="7" name="Text 5"/>
          <p:cNvSpPr/>
          <p:nvPr/>
        </p:nvSpPr>
        <p:spPr>
          <a:xfrm>
            <a:off x="3657600" y="2487168"/>
            <a:ext cx="4389120" cy="182880"/>
          </a:xfrm>
          <a:prstGeom prst="rect">
            <a:avLst/>
          </a:prstGeom>
          <a:noFill/>
          <a:ln/>
        </p:spPr>
        <p:txBody>
          <a:bodyPr wrap="square" lIns="0" tIns="0" rIns="0" bIns="0" rtlCol="0" anchor="ctr"/>
          <a:lstStyle/>
          <a:p>
            <a:pPr marL="0" indent="0">
              <a:buNone/>
            </a:pPr>
            <a:r>
              <a:rPr lang="en-US" sz="1200" b="1" dirty="0">
                <a:solidFill>
                  <a:srgbClr val="FFFFFF"/>
                </a:solidFill>
              </a:rPr>
              <a:t>URL pública de acceso</a:t>
            </a:r>
            <a:endParaRPr lang="en-US" sz="1200" dirty="0"/>
          </a:p>
        </p:txBody>
      </p:sp>
      <p:sp>
        <p:nvSpPr>
          <p:cNvPr id="10" name="Text 8"/>
          <p:cNvSpPr/>
          <p:nvPr/>
        </p:nvSpPr>
        <p:spPr>
          <a:xfrm>
            <a:off x="3657600" y="2862072"/>
            <a:ext cx="4389120" cy="201168"/>
          </a:xfrm>
          <a:prstGeom prst="rect">
            <a:avLst/>
          </a:prstGeom>
          <a:noFill/>
          <a:ln/>
        </p:spPr>
        <p:txBody>
          <a:bodyPr wrap="square" lIns="0" tIns="0" rIns="0" bIns="0" rtlCol="0" anchor="ctr">
            <a:normAutofit/>
          </a:bodyPr>
          <a:lstStyle/>
          <a:p>
            <a:pPr marL="0" indent="0">
              <a:buNone/>
            </a:pPr>
            <a:endParaRPr lang="en-US" sz="1120" dirty="0"/>
          </a:p>
        </p:txBody>
      </p:sp>
      <p:sp>
        <p:nvSpPr>
          <p:cNvPr id="12" name="Text 10"/>
          <p:cNvSpPr/>
          <p:nvPr/>
        </p:nvSpPr>
        <p:spPr>
          <a:xfrm>
            <a:off x="987552" y="3273552"/>
            <a:ext cx="2560320" cy="201168"/>
          </a:xfrm>
          <a:prstGeom prst="rect">
            <a:avLst/>
          </a:prstGeom>
          <a:noFill/>
          <a:ln/>
        </p:spPr>
        <p:txBody>
          <a:bodyPr wrap="square" lIns="0" tIns="0" rIns="0" bIns="0" rtlCol="0" anchor="ctr"/>
          <a:lstStyle/>
          <a:p>
            <a:pPr marL="0" indent="0">
              <a:buNone/>
            </a:pPr>
            <a:endParaRPr lang="en-US" sz="1150" dirty="0"/>
          </a:p>
        </p:txBody>
      </p:sp>
      <p:sp>
        <p:nvSpPr>
          <p:cNvPr id="13" name="Text 11"/>
          <p:cNvSpPr/>
          <p:nvPr/>
        </p:nvSpPr>
        <p:spPr>
          <a:xfrm>
            <a:off x="3657600" y="3273552"/>
            <a:ext cx="4389120" cy="201168"/>
          </a:xfrm>
          <a:prstGeom prst="rect">
            <a:avLst/>
          </a:prstGeom>
          <a:noFill/>
          <a:ln/>
        </p:spPr>
        <p:txBody>
          <a:bodyPr wrap="square" lIns="0" tIns="0" rIns="0" bIns="0" rtlCol="0" anchor="ctr">
            <a:normAutofit/>
          </a:bodyPr>
          <a:lstStyle/>
          <a:p>
            <a:pPr marL="0" indent="0">
              <a:buNone/>
            </a:pPr>
            <a:endParaRPr lang="en-US" sz="1120" dirty="0"/>
          </a:p>
        </p:txBody>
      </p:sp>
      <p:sp>
        <p:nvSpPr>
          <p:cNvPr id="15" name="Shape 13"/>
          <p:cNvSpPr/>
          <p:nvPr/>
        </p:nvSpPr>
        <p:spPr>
          <a:xfrm>
            <a:off x="365760" y="6510528"/>
            <a:ext cx="8412480" cy="0"/>
          </a:xfrm>
          <a:prstGeom prst="line">
            <a:avLst/>
          </a:prstGeom>
          <a:noFill/>
          <a:ln w="12700">
            <a:solidFill>
              <a:srgbClr val="DDDDDD"/>
            </a:solidFill>
            <a:prstDash val="solid"/>
          </a:ln>
        </p:spPr>
      </p:sp>
      <p:sp>
        <p:nvSpPr>
          <p:cNvPr id="16" name="Text 14"/>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594360"/>
            <a:ext cx="7772400" cy="411480"/>
          </a:xfrm>
          <a:prstGeom prst="rect">
            <a:avLst/>
          </a:prstGeom>
          <a:noFill/>
          <a:ln/>
        </p:spPr>
        <p:txBody>
          <a:bodyPr wrap="square" lIns="0" tIns="0" rIns="0" bIns="0" rtlCol="0" anchor="ctr"/>
          <a:lstStyle/>
          <a:p>
            <a:pPr marL="0" indent="0" algn="ctr">
              <a:buNone/>
            </a:pPr>
            <a:r>
              <a:rPr lang="en-US" sz="2000" b="1" dirty="0">
                <a:solidFill>
                  <a:srgbClr val="222222"/>
                </a:solidFill>
              </a:rPr>
              <a:t>CONCLUSIÓN</a:t>
            </a:r>
            <a:endParaRPr lang="en-US" sz="2000" dirty="0"/>
          </a:p>
        </p:txBody>
      </p:sp>
      <p:sp>
        <p:nvSpPr>
          <p:cNvPr id="3" name="Text 1"/>
          <p:cNvSpPr/>
          <p:nvPr/>
        </p:nvSpPr>
        <p:spPr>
          <a:xfrm>
            <a:off x="777240" y="1325880"/>
            <a:ext cx="7589520" cy="4251960"/>
          </a:xfrm>
          <a:prstGeom prst="rect">
            <a:avLst/>
          </a:prstGeom>
          <a:noFill/>
          <a:ln/>
        </p:spPr>
        <p:txBody>
          <a:bodyPr wrap="square" lIns="635" tIns="635" rIns="635" bIns="635" rtlCol="0" anchor="ctr">
            <a:normAutofit/>
          </a:bodyPr>
          <a:lstStyle/>
          <a:p>
            <a:pPr marL="0" indent="0">
              <a:buNone/>
            </a:pPr>
            <a:r>
              <a:rPr lang="en-US" sz="1400" dirty="0">
                <a:solidFill>
                  <a:srgbClr val="222222"/>
                </a:solidFill>
              </a:rPr>
              <a:t>Al terminar la práctica se logró configurar Nginx como reverse proxy para dos aplicaciones Spring Boot instaladas en un VPS de Google Cloud. Primero se revisaron los puertos internos, después se instaló Nginx, se creó el archivo de configuración y se activaron las rutas públicas para Departamento de Ingenierías y Residencias. Durante la prueba apareció un problema de redirección hacia el login, pero se corrigió agregando reglas proxy_redirect. También se configuró el dominio itfcomalapa.duckdns.org para que el acceso fuera más sencillo. Con esto se comprobó que Nginx permite organizar mejor el acceso a varias aplicaciones desde un mismo servidor y deja una base útil para seguir mejorando el despliegue con HTTPS.</a:t>
            </a:r>
            <a:endParaRPr lang="en-US" sz="1400" dirty="0"/>
          </a:p>
        </p:txBody>
      </p:sp>
      <p:sp>
        <p:nvSpPr>
          <p:cNvPr id="4" name="Shape 2"/>
          <p:cNvSpPr/>
          <p:nvPr/>
        </p:nvSpPr>
        <p:spPr>
          <a:xfrm>
            <a:off x="365760" y="6510528"/>
            <a:ext cx="8412480" cy="0"/>
          </a:xfrm>
          <a:prstGeom prst="line">
            <a:avLst/>
          </a:prstGeom>
          <a:noFill/>
          <a:ln w="12700">
            <a:solidFill>
              <a:srgbClr val="DDDDDD"/>
            </a:solidFill>
            <a:prstDash val="solid"/>
          </a:ln>
        </p:spPr>
      </p:sp>
      <p:sp>
        <p:nvSpPr>
          <p:cNvPr id="5" name="Text 3"/>
          <p:cNvSpPr/>
          <p:nvPr/>
        </p:nvSpPr>
        <p:spPr>
          <a:xfrm>
            <a:off x="8458200" y="6565392"/>
            <a:ext cx="320040" cy="182880"/>
          </a:xfrm>
          <a:prstGeom prst="rect">
            <a:avLst/>
          </a:prstGeom>
          <a:noFill/>
          <a:ln/>
        </p:spPr>
        <p:txBody>
          <a:bodyPr wrap="square" lIns="0" tIns="0" rIns="0" bIns="0" rtlCol="0" anchor="ctr"/>
          <a:lstStyle/>
          <a:p>
            <a:pPr marL="0" indent="0" algn="r">
              <a:buNone/>
            </a:pPr>
            <a:r>
              <a:rPr lang="en-US" sz="800" dirty="0">
                <a:solidFill>
                  <a:srgbClr val="777777"/>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28</TotalTime>
  <Words>1399</Words>
  <Application>Microsoft Office PowerPoint</Application>
  <PresentationFormat>Presentación en pantalla (4:3)</PresentationFormat>
  <Paragraphs>119</Paragraphs>
  <Slides>18</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Courier New</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Instituto Tecnológico de Frontera Comalapa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de práctica - Nginx Reverse Proxy</dc:title>
  <dc:subject>Reporte de práctica Nginx reverse proxy</dc:subject>
  <dc:creator>Eddi Uriel Castillo Sánchez</dc:creator>
  <cp:lastModifiedBy>eddi castillo</cp:lastModifiedBy>
  <cp:revision>2</cp:revision>
  <dcterms:created xsi:type="dcterms:W3CDTF">2026-07-12T04:57:29Z</dcterms:created>
  <dcterms:modified xsi:type="dcterms:W3CDTF">2026-07-12T11:30:15Z</dcterms:modified>
</cp:coreProperties>
</file>